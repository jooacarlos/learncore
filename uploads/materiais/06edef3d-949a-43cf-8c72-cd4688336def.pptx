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5999725" cx="323992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338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338" orient="horz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429947" y="5891626"/>
            <a:ext cx="27539395" cy="125332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049911" y="18908198"/>
            <a:ext cx="24299466" cy="8691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/>
            </a:lvl1pPr>
            <a:lvl2pPr lvl="1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6"/>
            </a:lvl2pPr>
            <a:lvl3pPr lvl="2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78"/>
            </a:lvl3pPr>
            <a:lvl4pPr lvl="3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4pPr>
            <a:lvl5pPr lvl="4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5pPr>
            <a:lvl6pPr lvl="5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6pPr>
            <a:lvl7pPr lvl="6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7pPr>
            <a:lvl8pPr lvl="7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8pPr>
            <a:lvl9pPr lvl="8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227451" y="9583264"/>
            <a:ext cx="27944386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210578" y="8974945"/>
            <a:ext cx="27944386" cy="149748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210578" y="24091502"/>
            <a:ext cx="27944386" cy="787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708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6378"/>
              <a:buNone/>
              <a:defRPr sz="637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2227451" y="9583264"/>
            <a:ext cx="13769697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6402140" y="9583264"/>
            <a:ext cx="13769697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23167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2231675" y="8824938"/>
            <a:ext cx="13706415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2231675" y="13149904"/>
            <a:ext cx="13706415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16402142" y="8824938"/>
            <a:ext cx="13773917" cy="4324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16402142" y="13149904"/>
            <a:ext cx="13773917" cy="19341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31671" y="2399982"/>
            <a:ext cx="10449614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3773917" y="5183304"/>
            <a:ext cx="16402140" cy="25583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48563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1338"/>
              <a:buChar char="•"/>
              <a:defRPr sz="11338"/>
            </a:lvl1pPr>
            <a:lvl2pPr indent="-858583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9921"/>
              <a:buChar char="•"/>
              <a:defRPr sz="9921"/>
            </a:lvl2pPr>
            <a:lvl3pPr indent="-768604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Char char="•"/>
              <a:defRPr sz="8504"/>
            </a:lvl3pPr>
            <a:lvl4pPr indent="-678561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4pPr>
            <a:lvl5pPr indent="-678561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5pPr>
            <a:lvl6pPr indent="-67856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6pPr>
            <a:lvl7pPr indent="-67856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7pPr>
            <a:lvl8pPr indent="-67856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8pPr>
            <a:lvl9pPr indent="-67856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31671" y="10799922"/>
            <a:ext cx="10449614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231671" y="2399982"/>
            <a:ext cx="10449614" cy="83999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773917" y="5183304"/>
            <a:ext cx="16402140" cy="25583147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231671" y="10799922"/>
            <a:ext cx="10449614" cy="2000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4778893" y="7031823"/>
            <a:ext cx="22841503" cy="27944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1424733" y="13677662"/>
            <a:ext cx="30508114" cy="698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-2749955" y="6894061"/>
            <a:ext cx="30508114" cy="20553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0"/>
              <a:buFont typeface="Calibri"/>
              <a:buNone/>
              <a:defRPr b="0" i="0" sz="155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27451" y="9583264"/>
            <a:ext cx="27944386" cy="22841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58583" lvl="0" marL="457200" marR="0" rtl="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9921"/>
              <a:buFont typeface="Arial"/>
              <a:buChar char="•"/>
              <a:defRPr b="0" i="0" sz="99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8604" lvl="1" marL="914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Font typeface="Arial"/>
              <a:buChar char="•"/>
              <a:defRPr b="0" i="0" sz="85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78561" lvl="2" marL="1371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b="0" i="0" sz="70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33603" lvl="3" marL="1828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33603" lvl="4" marL="22860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33603" lvl="5" marL="27432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33603" lvl="6" marL="3200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33603" lvl="7" marL="3657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33603" lvl="8" marL="4114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69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178223" y="6057572"/>
            <a:ext cx="28041300" cy="2627400"/>
          </a:xfrm>
          <a:prstGeom prst="parallelogram">
            <a:avLst>
              <a:gd fmla="val 25000" name="adj"/>
            </a:avLst>
          </a:prstGeom>
          <a:solidFill>
            <a:srgbClr val="5526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9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108800" y="6035450"/>
            <a:ext cx="20373300" cy="28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9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Integrantes: A</a:t>
            </a:r>
            <a:r>
              <a:rPr lang="pt-BR" sz="5925">
                <a:solidFill>
                  <a:schemeClr val="lt1"/>
                </a:solidFill>
              </a:rPr>
              <a:t>bner Tanaka, Ana Julia Paiola, Bruna Salvador e João Carlos Gouvêa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59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Orientador: Adriano Doimo</a:t>
            </a:r>
            <a:endParaRPr/>
          </a:p>
        </p:txBody>
      </p:sp>
      <p:grpSp>
        <p:nvGrpSpPr>
          <p:cNvPr id="86" name="Google Shape;86;p13"/>
          <p:cNvGrpSpPr/>
          <p:nvPr/>
        </p:nvGrpSpPr>
        <p:grpSpPr>
          <a:xfrm>
            <a:off x="461641" y="8965987"/>
            <a:ext cx="31476005" cy="1016860"/>
            <a:chOff x="31042" y="11228057"/>
            <a:chExt cx="31867981" cy="1029523"/>
          </a:xfrm>
        </p:grpSpPr>
        <p:sp>
          <p:nvSpPr>
            <p:cNvPr id="87" name="Google Shape;87;p13"/>
            <p:cNvSpPr txBox="1"/>
            <p:nvPr/>
          </p:nvSpPr>
          <p:spPr>
            <a:xfrm>
              <a:off x="31042" y="11228057"/>
              <a:ext cx="16020600" cy="1016700"/>
            </a:xfrm>
            <a:prstGeom prst="rect">
              <a:avLst/>
            </a:prstGeom>
            <a:solidFill>
              <a:srgbClr val="5526A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5925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RESUMO </a:t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16244723" y="11240880"/>
              <a:ext cx="15654300" cy="1016700"/>
            </a:xfrm>
            <a:prstGeom prst="rect">
              <a:avLst/>
            </a:prstGeom>
            <a:solidFill>
              <a:srgbClr val="5526A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925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DESENVOLVIMENTO</a:t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461657" y="18380065"/>
            <a:ext cx="15823500" cy="1004400"/>
          </a:xfrm>
          <a:prstGeom prst="rect">
            <a:avLst/>
          </a:prstGeom>
          <a:solidFill>
            <a:srgbClr val="5526A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92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METODOLOGIA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343725" y="24746653"/>
            <a:ext cx="15854400" cy="1004400"/>
          </a:xfrm>
          <a:prstGeom prst="rect">
            <a:avLst/>
          </a:prstGeom>
          <a:solidFill>
            <a:srgbClr val="5526A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92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E CONCLUSÃO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61638" y="10046760"/>
            <a:ext cx="15823500" cy="84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42594" lvl="0" marL="14605" marR="22860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O presente Trabalho de Conclusão de Curso (TCC) tem como objetivo principal o desenvolvimento da LearnCore, uma plataforma educacional voltada à otimização do processo de correção de atividades escolares por meio do uso de inteligência artificial (IA). O projeto foi idealizado com foco na redução do tempo dedicado pelos professores à correção manual de tarefas, bem como na geração automatizada de feedbacks personalizados, promovendo um ambiente de aprendizagem mais eficaz. A plataforma possui um design responsivo, interface intuitiva e funcionalidades como envio de atividades, feedback automatizado, painel de desempenho e interação com uma IA assistente. O sistema representa uma solução inovadora e escalável, com potencial de impacto significativo no cenário educacional atual.</a:t>
            </a:r>
            <a:endParaRPr sz="3900">
              <a:solidFill>
                <a:schemeClr val="dk1"/>
              </a:solidFill>
            </a:endParaRPr>
          </a:p>
          <a:p>
            <a:pPr indent="0" lvl="0" marL="14605" marR="27305" rtl="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6359173" y="10061408"/>
            <a:ext cx="15823500" cy="151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O </a:t>
            </a:r>
            <a:r>
              <a:rPr i="1" lang="pt-BR" sz="3900">
                <a:solidFill>
                  <a:schemeClr val="dk1"/>
                </a:solidFill>
              </a:rPr>
              <a:t>LearnCore</a:t>
            </a:r>
            <a:r>
              <a:rPr lang="pt-BR" sz="3900">
                <a:solidFill>
                  <a:schemeClr val="dk1"/>
                </a:solidFill>
              </a:rPr>
              <a:t> foi desenvolvido com o objetivo de automatizar a correção de atividades escolares, utilizando inteligência artificial para tornar o processo avaliativo mais ágil, preciso e personalizado. O projeto seguiu uma abordagem iterativa, priorizando a experiência do usuário, usabilidade e acessibilidade em diferentes dispositivos.</a:t>
            </a:r>
            <a:endParaRPr sz="39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A interface foi construída com HTML, CSS e JavaScript, enquanto o back-end incorporou técnicas de IA treinadas para identificar erros linguísticos, semânticos e gramaticais em textos escritos. Um sistema de gerenciamento de arquivos permite o envio e processamento de documentos em formato DOCX e PDF, que são avaliados automaticamente com base em critérios definidos pelos professores.</a:t>
            </a:r>
            <a:endParaRPr sz="39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A plataforma foi estruturada em módulos específicos para professores e alunos. Os docentes podem configurar os critérios de correção, acompanhar o andamento das atividades e acessar painéis com dados de desempenho. Os alunos, por sua vez, têm acesso a funcionalidades como envio de tarefas, recebimento de feedbacks detalhados com gráficos, além de interação com um chatbot educacional que oferece orientações baseadas em suas dificuldades.</a:t>
            </a:r>
            <a:endParaRPr sz="39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Durante os testes com usuários simulados, a plataforma demonstrou eficiência na correção automatizada e na geração de devolutivas ricas em conteúdo pedagógico. Isso comprovou o potencial do </a:t>
            </a:r>
            <a:r>
              <a:rPr i="1" lang="pt-BR" sz="3900">
                <a:solidFill>
                  <a:schemeClr val="dk1"/>
                </a:solidFill>
              </a:rPr>
              <a:t>LearnCore</a:t>
            </a:r>
            <a:r>
              <a:rPr lang="pt-BR" sz="3900">
                <a:solidFill>
                  <a:schemeClr val="dk1"/>
                </a:solidFill>
              </a:rPr>
              <a:t> como uma solução inovadora que integra tecnologia e educação de forma eficaz.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61649" y="19579757"/>
            <a:ext cx="158235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A plataforma LearnCore foi desenvolvida com foco na usabilidade e acessibilidade, utilizando HTML, CSS e JavaScript no front-end, e inteligência artificial no back-end para corrigir atividades e gerar feedbacks personalizados. A IA analisa arquivos enviados em DOCX ou PDF com base em critérios definidos pelo professor.</a:t>
            </a:r>
            <a:endParaRPr sz="3900">
              <a:solidFill>
                <a:schemeClr val="dk1"/>
              </a:solidFill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A plataforma possui módulos para professores e alunos, incluindo: configuração de critérios de correção, envio de atividades, visualização de status, feedback com gráficos e um chatbot com IA para tirar dúvidas e orientar os alunos conforme suas dificuldades.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 flipH="1" rot="-5400000">
            <a:off x="24339356" y="-1818516"/>
            <a:ext cx="5942955" cy="9809224"/>
          </a:xfrm>
          <a:prstGeom prst="rtTriangl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7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02093" y="25612173"/>
            <a:ext cx="15823500" cy="1004400"/>
          </a:xfrm>
          <a:prstGeom prst="rect">
            <a:avLst/>
          </a:prstGeom>
          <a:solidFill>
            <a:srgbClr val="5526A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92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CONCEITOS TEÓRICOS ABORDADOS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02100" y="26771576"/>
            <a:ext cx="15823500" cy="9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00">
                <a:solidFill>
                  <a:schemeClr val="dk1"/>
                </a:solidFill>
              </a:rPr>
              <a:t>O TCC aborda a aplicação da Inteligência Artificial (IA) na educação por meio da plataforma </a:t>
            </a:r>
            <a:r>
              <a:rPr i="1" lang="pt-BR" sz="3900">
                <a:solidFill>
                  <a:schemeClr val="dk1"/>
                </a:solidFill>
              </a:rPr>
              <a:t>LearnCore</a:t>
            </a:r>
            <a:r>
              <a:rPr lang="pt-BR" sz="3900">
                <a:solidFill>
                  <a:schemeClr val="dk1"/>
                </a:solidFill>
              </a:rPr>
              <a:t>, que automatiza a correção de atividades escolares e fornece feedbacks personalizados. Entre os principais conceitos teóricos, destacam-se: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pt-BR" sz="3900">
                <a:solidFill>
                  <a:schemeClr val="dk1"/>
                </a:solidFill>
              </a:rPr>
              <a:t>Automatização pedagógica</a:t>
            </a:r>
            <a:r>
              <a:rPr lang="pt-BR" sz="3900">
                <a:solidFill>
                  <a:schemeClr val="dk1"/>
                </a:solidFill>
              </a:rPr>
              <a:t>: uso da IA para corrigir tarefas com rapidez e precisão.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pt-BR" sz="3900">
                <a:solidFill>
                  <a:schemeClr val="dk1"/>
                </a:solidFill>
              </a:rPr>
              <a:t>Feedback personalizado</a:t>
            </a:r>
            <a:r>
              <a:rPr lang="pt-BR" sz="3900">
                <a:solidFill>
                  <a:schemeClr val="dk1"/>
                </a:solidFill>
              </a:rPr>
              <a:t>: orientações e sugestões adaptadas ao desempenho individual do aluno.</a:t>
            </a:r>
            <a:br>
              <a:rPr lang="pt-BR" sz="3900">
                <a:solidFill>
                  <a:schemeClr val="dk1"/>
                </a:solidFill>
              </a:rPr>
            </a:br>
            <a:r>
              <a:rPr b="1" lang="pt-BR" sz="3900">
                <a:solidFill>
                  <a:schemeClr val="dk1"/>
                </a:solidFill>
              </a:rPr>
              <a:t>Usabilidade e acessibilidade</a:t>
            </a:r>
            <a:r>
              <a:rPr lang="pt-BR" sz="3900">
                <a:solidFill>
                  <a:schemeClr val="dk1"/>
                </a:solidFill>
              </a:rPr>
              <a:t>: interface intuitiva e responsiva, acessível a diversos perfis e dispositivos.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pt-BR" sz="3900">
                <a:solidFill>
                  <a:schemeClr val="dk1"/>
                </a:solidFill>
              </a:rPr>
              <a:t>Análise de dados educacionais</a:t>
            </a:r>
            <a:r>
              <a:rPr lang="pt-BR" sz="3900">
                <a:solidFill>
                  <a:schemeClr val="dk1"/>
                </a:solidFill>
              </a:rPr>
              <a:t>: coleta de informações para apoiar decisões pedagógicas.</a:t>
            </a:r>
            <a:endParaRPr sz="3900">
              <a:solidFill>
                <a:schemeClr val="dk1"/>
              </a:solidFill>
            </a:endParaRPr>
          </a:p>
          <a:p>
            <a:pPr indent="-47625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●"/>
            </a:pPr>
            <a:r>
              <a:rPr b="1" lang="pt-BR" sz="3900">
                <a:solidFill>
                  <a:schemeClr val="dk1"/>
                </a:solidFill>
              </a:rPr>
              <a:t>Personalização do ensino</a:t>
            </a:r>
            <a:r>
              <a:rPr lang="pt-BR" sz="3900">
                <a:solidFill>
                  <a:schemeClr val="dk1"/>
                </a:solidFill>
              </a:rPr>
              <a:t>: planos de estudo individualizados, promovendo autonomia e protagonismo do estudante.</a:t>
            </a:r>
            <a:endParaRPr sz="3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chemeClr val="dk1"/>
              </a:solidFill>
            </a:endParaRPr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3934" y="1184757"/>
            <a:ext cx="5956381" cy="32398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5362195" y="584960"/>
            <a:ext cx="2299539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 em Desenvolvimento de Sistemas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810903" y="3628774"/>
            <a:ext cx="20969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987425" lvl="0" marL="534670" marR="54229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6600">
                <a:solidFill>
                  <a:schemeClr val="dk1"/>
                </a:solidFill>
              </a:rPr>
              <a:t>LearnCore: Plataforma Educacional com Correção Automatizada por Inteligência Artificial</a:t>
            </a:r>
            <a:endParaRPr b="1" sz="6600">
              <a:solidFill>
                <a:schemeClr val="dk1"/>
              </a:solidFill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6480451" y="26006980"/>
            <a:ext cx="15823500" cy="9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950">
                <a:solidFill>
                  <a:schemeClr val="dk1"/>
                </a:solidFill>
              </a:rPr>
              <a:t>O projeto LearnCore representa uma inovação no campo educacional ao utilizar inteligência artificial para transformar a avaliação escolar, oferecendo feedbacks inteligentes, personalizados e pedagógicos que promovem o aprendizado contínuo dos alunos. A plataforma adapta-se às necessidades individuais, gerando planos de estudo personalizados com sugestões de vídeos, atividades e explicações direcionadas, tornando o feedback uma ferramenta ativa de aprendizagem. Além de aliviar os professores de tarefas repetitivas, o LearnCore permite uma análise mais estratégica do desempenho dos alunos, contribuindo para a melhoria do ensino. Sua interface responsiva e acessível torna a experiência mais inclusiva e eficiente para todos os usuários. Assim, o LearnCore é uma solução escalável, prática e alinhada às demandas da educação do século XXI, unindo tecnologia e pedagogia para promover uma educação mais justa e centrada no aluno.</a:t>
            </a:r>
            <a:endParaRPr sz="395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950">
              <a:solidFill>
                <a:schemeClr val="dk1"/>
              </a:solidFill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902" y="913275"/>
            <a:ext cx="6066046" cy="4138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